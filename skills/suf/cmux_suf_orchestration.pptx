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orchestrate --agents codex,claude,pi,antigravity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이기종 LLM 에이전트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전달 </a:t>
            </a:r>
            <a:pPr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오케스트레이션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Heterogeneous Agent-to-Agent Collaboration  ·  cmux + suf v5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4498848"/>
            <a:ext cx="146304" cy="14630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063240" y="42519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4408" y="4498848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0" y="42519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04688" y="4498848"/>
            <a:ext cx="146304" cy="14630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43800" y="42519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44968" y="4498848"/>
            <a:ext cx="146304" cy="146304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251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agent-to-agent message passing over cmux sidecars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309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9-slide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EVOLVING DEV CULTURE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변화하는 개발 문화 — 횡적 분할에서 종적 분할로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orchestration 의 발전으로, 역할(기능)별로 가로로 쪼개 순차 전달하던 일이 사람+에이전트가 기능을 세로로 통째 소유하는 형태로 이동한다.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4572000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과거 · 횡적 분할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(Horizontal)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2670048"/>
            <a:ext cx="310896" cy="3108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8992" y="2606040"/>
            <a:ext cx="3840480" cy="42062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26060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200400"/>
            <a:ext cx="310896" cy="310896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78992" y="3136392"/>
            <a:ext cx="3840480" cy="42062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3136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30752"/>
            <a:ext cx="310896" cy="310896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78992" y="3666744"/>
            <a:ext cx="3840480" cy="42062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1078992" y="36667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퍼블리싱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261104"/>
            <a:ext cx="310896" cy="3108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78992" y="4197096"/>
            <a:ext cx="3840480" cy="42062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2" name="Text 20"/>
          <p:cNvSpPr/>
          <p:nvPr/>
        </p:nvSpPr>
        <p:spPr>
          <a:xfrm>
            <a:off x="1078992" y="41970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" y="4791456"/>
            <a:ext cx="310896" cy="310896"/>
          </a:xfrm>
          <a:prstGeom prst="ellipse">
            <a:avLst/>
          </a:prstGeom>
          <a:solidFill>
            <a:srgbClr val="F778B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78992" y="4727448"/>
            <a:ext cx="3840480" cy="420624"/>
          </a:xfrm>
          <a:prstGeom prst="rect">
            <a:avLst/>
          </a:prstGeom>
          <a:solidFill>
            <a:srgbClr val="F778BA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472744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" y="5321808"/>
            <a:ext cx="310896" cy="310896"/>
          </a:xfrm>
          <a:prstGeom prst="ellipse">
            <a:avLst/>
          </a:prstGeom>
          <a:solidFill>
            <a:srgbClr val="FF7B7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5321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78992" y="5257800"/>
            <a:ext cx="3840480" cy="420624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" y="52578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6235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기능별 전문화 · 순차적 핸드오프 · 역할 간 경계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3832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212080" y="4160520"/>
            <a:ext cx="1508760" cy="0"/>
          </a:xfrm>
          <a:prstGeom prst="line">
            <a:avLst/>
          </a:prstGeom>
          <a:noFill/>
          <a:ln w="44450">
            <a:solidFill>
              <a:srgbClr val="3FB95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03720" y="2011680"/>
            <a:ext cx="4736592" cy="40690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· 종적 분할 </a:t>
            </a:r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(Vertical)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114032" y="2606040"/>
            <a:ext cx="1371600" cy="457200"/>
          </a:xfrm>
          <a:prstGeom prst="rect">
            <a:avLst/>
          </a:prstGeom>
          <a:solidFill>
            <a:srgbClr val="1C2128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2770632"/>
            <a:ext cx="128016" cy="12801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7388352" y="26060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· claude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114032" y="3200400"/>
            <a:ext cx="1371600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14032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14032" y="3611880"/>
            <a:ext cx="1371600" cy="365760"/>
          </a:xfrm>
          <a:prstGeom prst="rect">
            <a:avLst/>
          </a:prstGeom>
          <a:solidFill>
            <a:srgbClr val="BC8C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114032" y="4023360"/>
            <a:ext cx="1371600" cy="365760"/>
          </a:xfrm>
          <a:prstGeom prst="rect">
            <a:avLst/>
          </a:prstGeom>
          <a:solidFill>
            <a:srgbClr val="D299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퍼블리싱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14032" y="4434840"/>
            <a:ext cx="137160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14032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114032" y="4846320"/>
            <a:ext cx="1371600" cy="365760"/>
          </a:xfrm>
          <a:prstGeom prst="rect">
            <a:avLst/>
          </a:prstGeom>
          <a:solidFill>
            <a:srgbClr val="F778B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14032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114032" y="5257800"/>
            <a:ext cx="1371600" cy="365760"/>
          </a:xfrm>
          <a:prstGeom prst="rect">
            <a:avLst/>
          </a:prstGeom>
          <a:solidFill>
            <a:srgbClr val="FF7B7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14032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650224" y="2606040"/>
            <a:ext cx="1371600" cy="457200"/>
          </a:xfrm>
          <a:prstGeom prst="rect">
            <a:avLst/>
          </a:prstGeom>
          <a:solidFill>
            <a:srgbClr val="1C2128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759952" y="2770632"/>
            <a:ext cx="128016" cy="128016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53" name="Text 51"/>
          <p:cNvSpPr/>
          <p:nvPr/>
        </p:nvSpPr>
        <p:spPr>
          <a:xfrm>
            <a:off x="8924544" y="26060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· 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650224" y="3200400"/>
            <a:ext cx="1371600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50224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650224" y="3611880"/>
            <a:ext cx="1371600" cy="365760"/>
          </a:xfrm>
          <a:prstGeom prst="rect">
            <a:avLst/>
          </a:prstGeom>
          <a:solidFill>
            <a:srgbClr val="BC8C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50224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8650224" y="4023360"/>
            <a:ext cx="1371600" cy="365760"/>
          </a:xfrm>
          <a:prstGeom prst="rect">
            <a:avLst/>
          </a:prstGeom>
          <a:solidFill>
            <a:srgbClr val="D299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50224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퍼블리싱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650224" y="4434840"/>
            <a:ext cx="137160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50224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650224" y="4846320"/>
            <a:ext cx="1371600" cy="365760"/>
          </a:xfrm>
          <a:prstGeom prst="rect">
            <a:avLst/>
          </a:prstGeom>
          <a:solidFill>
            <a:srgbClr val="F778B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50224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650224" y="5257800"/>
            <a:ext cx="1371600" cy="365760"/>
          </a:xfrm>
          <a:prstGeom prst="rect">
            <a:avLst/>
          </a:prstGeom>
          <a:solidFill>
            <a:srgbClr val="FF7B7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50224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10186416" y="2606040"/>
            <a:ext cx="1371600" cy="457200"/>
          </a:xfrm>
          <a:prstGeom prst="rect">
            <a:avLst/>
          </a:prstGeom>
          <a:solidFill>
            <a:srgbClr val="1C2128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96144" y="2770632"/>
            <a:ext cx="128016" cy="12801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460736" y="260604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· codex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0186416" y="3200400"/>
            <a:ext cx="1371600" cy="365760"/>
          </a:xfrm>
          <a:prstGeom prst="rect">
            <a:avLst/>
          </a:prstGeom>
          <a:solidFill>
            <a:srgbClr val="58A6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186416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0186416" y="3611880"/>
            <a:ext cx="1371600" cy="365760"/>
          </a:xfrm>
          <a:prstGeom prst="rect">
            <a:avLst/>
          </a:prstGeom>
          <a:solidFill>
            <a:srgbClr val="BC8CFF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86416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0186416" y="4023360"/>
            <a:ext cx="1371600" cy="365760"/>
          </a:xfrm>
          <a:prstGeom prst="rect">
            <a:avLst/>
          </a:prstGeom>
          <a:solidFill>
            <a:srgbClr val="D2992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186416" y="4023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퍼블리싱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10186416" y="4434840"/>
            <a:ext cx="1371600" cy="365760"/>
          </a:xfrm>
          <a:prstGeom prst="rect">
            <a:avLst/>
          </a:prstGeom>
          <a:solidFill>
            <a:srgbClr val="3FB950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86416" y="4434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10186416" y="4846320"/>
            <a:ext cx="1371600" cy="365760"/>
          </a:xfrm>
          <a:prstGeom prst="rect">
            <a:avLst/>
          </a:prstGeom>
          <a:solidFill>
            <a:srgbClr val="F778B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86416" y="4846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10186416" y="5257800"/>
            <a:ext cx="1371600" cy="365760"/>
          </a:xfrm>
          <a:prstGeom prst="rect">
            <a:avLst/>
          </a:prstGeom>
          <a:solidFill>
            <a:srgbClr val="FF7B72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186416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086600" y="5623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 + agent 들이 기능을 end-to-end 소유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경계(가로)로 나누던 일이 → 사람+에이전트가 기능(세로)을 통째로 책임지는 구조로 이동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WHAT IS CMUX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cmux — AI 코딩 에이전트를 위한 네이티브 macOS 터미널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008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에이전트 오케스트레이션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agent 가 cmux new-split / send / read-screen 로 다른 pane 을 직접 제어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64008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620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인식 상태 표시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278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pane 의 컬러 보더로 상태 표시 — 작업중(무색) / 완료(녹색) / 에러(적색)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86784"/>
            <a:ext cx="64008" cy="8686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4106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내장 브라우저 pane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430682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터미널 안의 브라우저로 검색·링크 클릭 후 결과를 코딩 흐름으로 회수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065776"/>
            <a:ext cx="64008" cy="86868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02005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/ Socket API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5385816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셸 명령을 실행할 수 있는 어떤 에이전트든 오케스트레이션 가능 (Claude Code·Codex·Cursor 등)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1783080"/>
            <a:ext cx="4572000" cy="41605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1783080"/>
            <a:ext cx="45720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Shape 16"/>
          <p:cNvSpPr/>
          <p:nvPr/>
        </p:nvSpPr>
        <p:spPr>
          <a:xfrm>
            <a:off x="7205472" y="1920240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9" name="Shape 17"/>
          <p:cNvSpPr/>
          <p:nvPr/>
        </p:nvSpPr>
        <p:spPr>
          <a:xfrm>
            <a:off x="7406640" y="1920240"/>
            <a:ext cx="118872" cy="118872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7808" y="192024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1783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— workspace:1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69480" y="2331720"/>
            <a:ext cx="4114800" cy="14173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246888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new-split right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send  --surface ...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read-screen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한 primary 가 여러 pane 지휘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3931920"/>
            <a:ext cx="411480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393192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surface:6  building…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69480" y="4480560"/>
            <a:ext cx="411480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44805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surface:9  ● done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69480" y="5029200"/>
            <a:ext cx="4114800" cy="438912"/>
          </a:xfrm>
          <a:prstGeom prst="rect">
            <a:avLst/>
          </a:prstGeom>
          <a:solidFill>
            <a:srgbClr val="1C212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52360" y="502920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surface:11 ● error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cmux.com · GitHub manaflow-ai/cmux · Manaflow (YC) — 2개월 만에 10k★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 SUF SKILL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 v5 — cmux sidecar 간 agent-to-agent 통신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cmux send 로 다른 surface 에 짧은 prompt 를 던지고, per-job FIFO 로 응답을 직접 회수하는 규율화된 통신 레이어.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4747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응답 채널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read-screen 폴링 대신 per-job FIFO blocking read — kernel pipe 직통, ANSI noise 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61104" y="2103120"/>
            <a:ext cx="34747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discipline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9704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500자 / 응답 4KB / timeout 30s / auto-cap 문구 — 토큰 폭주 방지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73568" y="2103120"/>
            <a:ext cx="34747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02168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Sidecar 자동 감지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02168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매칭으로 LLM(claude·codex·pi…) vs worker(shell) 자동 구분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쓰는 경우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297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surface 의 짧은 ack / 상태 한 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shell command 위임 (worker mode)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결정 위임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39496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쓰지 않는 경우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2976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리포트·분석·수천 단어 — sidecar 토큰 폭주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긴 코드 / 문서 / 설계 위임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작업이면 parent(self) 가 직접 처리가 더 쌈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API: suf_ask (동기) · suf_send + suf_collect (비동기) · suf_tail · suf_cancel · suf_other_surfaces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 · ASSIGN TITLES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활용 예시 — backend·frontend pane 에 title 부여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sidecar 를 띄우고 각 surface 에 의미 있는 title 을 붙이면, 번호(surface:N) 대신 역할 이름으로 지목할 수 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48840"/>
            <a:ext cx="53492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2286000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2286000"/>
            <a:ext cx="118872" cy="118872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1115568" y="228600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148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"backend"   ·   surface:9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sidecar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611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API·DB·서버 로직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auto-detect → llm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suf_ask 로 ack·조회 위임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5349240" cy="27432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48840"/>
            <a:ext cx="534924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3952" y="2286000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17" name="Shape 15"/>
          <p:cNvSpPr/>
          <p:nvPr/>
        </p:nvSpPr>
        <p:spPr>
          <a:xfrm>
            <a:off x="6675120" y="2286000"/>
            <a:ext cx="118872" cy="118872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8" name="Shape 16"/>
          <p:cNvSpPr/>
          <p:nvPr/>
        </p:nvSpPr>
        <p:spPr>
          <a:xfrm>
            <a:off x="6876288" y="228600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14884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title: "frontend"  ·   surface:11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3796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sidecar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36118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역할: UI·컴포넌트·스타일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auto-detect → llm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workspace 안에서만 통신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91672" cy="12801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5780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cmux pane 에 title 부여 (각 surface 의 탭 이름)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set-title --surface surface:9  "backend"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claude code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set-title --surface surface:11 "frontend"</a:t>
            </a:r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COLLABORATE · SUF_BY_TITLE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suf_by_title 로 역할 이름 기반 협업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동작 원리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78308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65960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suf_by_title &lt;title&gt; &lt;prompt&gt;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cmux tree --all | grep "&lt;title&gt;"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→ surface:N 추출 (첫 매치)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suf_ask surface:N &lt;prompt&gt;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703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→ surface 해석 후 suf_ask 에 위임. 다중 매치 시 첫 번째. 없으면 RC=6.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30936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오케스트레이터 (self)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30952" cy="23774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965960"/>
            <a:ext cx="49651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suf-v5-lib.sh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backend(claude)·front(pi) 병렬 조율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b=$(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suf_by_title backend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"GET /users 응답 스키마 한 줄")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f=$(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suf_by_title frontend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"위 스키마로 fetch 타입 한 줄: $b")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91672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시퀀스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512064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23444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에 계약 질의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00400" y="5074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20440" y="51206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77640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(claude)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7764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 한 줄 → FIFO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0" y="5074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5120640"/>
            <a:ext cx="365760" cy="3657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20840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답을 frontend 에 전달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0" y="5074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0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06840" y="5120640"/>
            <a:ext cx="365760" cy="3657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9" name="Text 27"/>
          <p:cNvSpPr/>
          <p:nvPr/>
        </p:nvSpPr>
        <p:spPr>
          <a:xfrm>
            <a:off x="900684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464040" y="51023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(pi)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64040" y="5394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정의 한 줄 → FIFO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정리 — 규율 있는 이기종 협업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167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9144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cmux = 지휘 무대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89120" y="1947672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CLI/socket 으로 어떤 셸 에이전트든 여러 pane 을 동시에 띄우고 상태를 본다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9167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852928"/>
            <a:ext cx="73152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7180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 = 통신 규약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89120" y="297180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짧은 ack·조회·단일 명령만. FIFO 직통 + cap 으로 토큰 폭주를 구조적으로 차단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109167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77056"/>
            <a:ext cx="73152" cy="91440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9592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로 역할 추상화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995928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surface:N 대신 backend / frontend 이름으로 지목 — suf_by_title 한 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01184"/>
            <a:ext cx="11091672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901184"/>
            <a:ext cx="73152" cy="9144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2005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이기종이 핵심 가치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89120" y="5020056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claude·pi·codex·antigravity 가 같은 workspace 에서 한 줄씩 주고받으며 협업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080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한계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cross-workspace 미지원 · 사용자가 쓰는 surface 에 worker 금지 · LLM sidecar 는 permission-skip 모드 필요 · 응답 4KB 초과 truncate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algn="l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IMPLICATIONS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 — 앞으로의 개발 업무는 어떻게 바뀌나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9326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역할의 재정의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749040" y="187452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코드를 직접 치는 사람에서, 여러 에이전트를 지휘하고 산출물을 검증하는 오케스트레이터로 이동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검증·리뷰 역량이 새로운 병목이자 핵심 경쟁력이 된다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25496"/>
            <a:ext cx="1109167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825496"/>
            <a:ext cx="73152" cy="9326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1693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범위·속도의 확장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916936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1인이 기획부터 배포까지 기능을 end-to-end 로 소유 — 프로토타입에서 프로덕션까지 단축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아키텍처 응집·일관성은 여전히 사람이 설계·책임져야 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1109167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67912"/>
            <a:ext cx="73152" cy="93268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95935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통신 규율이 인프라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3959352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cmux·suf 같은 agent-to-agent 프로토콜과 cap discipline 이 생산성의 전제 조건이 된다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규율 없는 위임은 토큰·비용 폭주와 컨텍스트 단절로 직결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10328"/>
            <a:ext cx="11091672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910328"/>
            <a:ext cx="73152" cy="93268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00176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횡적 전문성의 재배치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749040" y="5001768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보안·플랫폼·디자인시스템 등 공통 기반은 사라지지 않고 팀의 토대로 재배치된다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— 종적 전환은 '완전 대체'가 아니라 무게중심의 이동으로 봐야 한다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'사람이 빠지는 것'이 아니라, 사람의 레버리지가 검증·설계·오케스트레이션으로 옮겨가는 변화다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cmux tree --all   # backend·frontend sidecar 확인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</a:t>
            </a:r>
            <a:pPr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Live 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2286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발표자가 직접 진행합니다 — codex · claude · pi 의 실시간 협업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6629400" cy="3063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80360"/>
            <a:ext cx="6629400" cy="384048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8" name="Shape 6"/>
          <p:cNvSpPr/>
          <p:nvPr/>
        </p:nvSpPr>
        <p:spPr>
          <a:xfrm>
            <a:off x="987552" y="3017520"/>
            <a:ext cx="118872" cy="118872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3017520"/>
            <a:ext cx="118872" cy="118872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3017520"/>
            <a:ext cx="118872" cy="118872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288036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orchestrator — workspace:1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4128" y="3429000"/>
            <a:ext cx="6217920" cy="2395728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3566160"/>
            <a:ext cx="585216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~/.agents/skills/suf/scripts/suf-v5-lib.sh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b=$(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suf_by_title backend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"GET /users 응답 스키마 한 줄")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f=$(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suf_by_title frontend</a:t>
            </a:r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"위 스키마로 fetch 타입 한 줄: $b")</a:t>
            </a: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endParaRPr lang="en-US" sz="11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"$b"; echo "$f"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시나리오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26680" y="3291840"/>
            <a:ext cx="3639312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09560" y="3511296"/>
            <a:ext cx="329184" cy="329184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2918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backend(claude) 에 API 계약 질의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26680" y="4178808"/>
            <a:ext cx="3639312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09560" y="4398264"/>
            <a:ext cx="329184" cy="329184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7909560" y="4398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17880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frontend(pi) 에 타입 생성 위임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26680" y="5065776"/>
            <a:ext cx="3639312" cy="749808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9560" y="5285232"/>
            <a:ext cx="329184" cy="329184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5285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0" y="506577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응답 종합 — 실시간 협업 확인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 지금부터 화면으로 직접 보여드립니다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cmux + suf 이기종 에이전트 오케스트레이션</dc:title>
  <dc:subject>PptxGenJS Presentation</dc:subject>
  <dc:creator>Hyun</dc:creator>
  <cp:lastModifiedBy>Hyun</cp:lastModifiedBy>
  <cp:revision>1</cp:revision>
  <dcterms:created xsi:type="dcterms:W3CDTF">2026-05-26T04:24:39Z</dcterms:created>
  <dcterms:modified xsi:type="dcterms:W3CDTF">2026-05-26T04:24:39Z</dcterms:modified>
</cp:coreProperties>
</file>